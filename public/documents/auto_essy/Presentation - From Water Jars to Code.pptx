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Clear Sans" panose="020B0604020202020204" charset="0"/>
      <p:regular r:id="rId16"/>
    </p:embeddedFont>
    <p:embeddedFont>
      <p:font typeface="Clear Sans Bold" panose="020B0604020202020204" charset="0"/>
      <p:regular r:id="rId17"/>
    </p:embeddedFont>
    <p:embeddedFont>
      <p:font typeface="Clear Sans Medium" panose="020B0604020202020204" charset="0"/>
      <p:regular r:id="rId18"/>
    </p:embeddedFont>
    <p:embeddedFont>
      <p:font typeface="Tenor Sans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91" y="11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2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4229113"/>
            <a:ext cx="9763125" cy="3838439"/>
            <a:chOff x="0" y="0"/>
            <a:chExt cx="13017500" cy="5117919"/>
          </a:xfrm>
        </p:grpSpPr>
        <p:sp>
          <p:nvSpPr>
            <p:cNvPr id="3" name="TextBox 3"/>
            <p:cNvSpPr txBox="1"/>
            <p:nvPr/>
          </p:nvSpPr>
          <p:spPr>
            <a:xfrm>
              <a:off x="0" y="190500"/>
              <a:ext cx="13017500" cy="3721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500"/>
                </a:lnSpc>
              </a:pPr>
              <a:r>
                <a:rPr lang="en-US" sz="10500" spc="-210">
                  <a:solidFill>
                    <a:srgbClr val="3E5C62"/>
                  </a:solidFill>
                  <a:latin typeface="Tenor Sans"/>
                  <a:ea typeface="Tenor Sans"/>
                  <a:cs typeface="Tenor Sans"/>
                  <a:sym typeface="Tenor Sans"/>
                </a:rPr>
                <a:t>From Water Jars to Code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421644"/>
              <a:ext cx="13017500" cy="69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3E5C6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ALEX KAROBIA NJOKI | BSC. IT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172950" y="0"/>
            <a:ext cx="6115050" cy="10287000"/>
            <a:chOff x="0" y="0"/>
            <a:chExt cx="947381" cy="15937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47381" cy="1593725"/>
            </a:xfrm>
            <a:custGeom>
              <a:avLst/>
              <a:gdLst/>
              <a:ahLst/>
              <a:cxnLst/>
              <a:rect l="l" t="t" r="r" b="b"/>
              <a:pathLst>
                <a:path w="947381" h="1593725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58" b="-58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8774635" y="7396104"/>
            <a:ext cx="6274865" cy="41148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BC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72950" y="0"/>
            <a:ext cx="6115050" cy="10287000"/>
            <a:chOff x="0" y="0"/>
            <a:chExt cx="947381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7381" cy="1593725"/>
            </a:xfrm>
            <a:custGeom>
              <a:avLst/>
              <a:gdLst/>
              <a:ahLst/>
              <a:cxnLst/>
              <a:rect l="l" t="t" r="r" b="b"/>
              <a:pathLst>
                <a:path w="947381" h="1593725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58" b="-5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1562100"/>
            <a:ext cx="9763125" cy="4102836"/>
            <a:chOff x="0" y="0"/>
            <a:chExt cx="13017500" cy="5470448"/>
          </a:xfrm>
        </p:grpSpPr>
        <p:sp>
          <p:nvSpPr>
            <p:cNvPr id="5" name="TextBox 5"/>
            <p:cNvSpPr txBox="1"/>
            <p:nvPr/>
          </p:nvSpPr>
          <p:spPr>
            <a:xfrm>
              <a:off x="0" y="3319799"/>
              <a:ext cx="130175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8C6F53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MUHOTETU, LAIKIPIA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513617"/>
              <a:ext cx="13017500" cy="9568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3E5C6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Growing up in Muhotetu instilled resilience, resourcefulness, and a deep sense of community, shaping my core values and life perspective.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3017500" cy="2815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99"/>
                </a:lnSpc>
              </a:pPr>
              <a:r>
                <a:rPr lang="en-US" sz="6999" spc="-139">
                  <a:solidFill>
                    <a:srgbClr val="3E5C62"/>
                  </a:solidFill>
                  <a:latin typeface="Tenor Sans"/>
                  <a:ea typeface="Tenor Sans"/>
                  <a:cs typeface="Tenor Sans"/>
                  <a:sym typeface="Tenor Sans"/>
                </a:rPr>
                <a:t>The Foundation of My Journey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2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1562086"/>
            <a:ext cx="8324850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</a:pPr>
            <a:r>
              <a:rPr lang="en-US" sz="6999" spc="-139">
                <a:solidFill>
                  <a:srgbClr val="3E5C62"/>
                </a:solidFill>
                <a:latin typeface="Tenor Sans"/>
                <a:ea typeface="Tenor Sans"/>
                <a:cs typeface="Tenor Sans"/>
                <a:sym typeface="Tenor Sans"/>
              </a:rPr>
              <a:t>The Family Anchor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734675" y="3352794"/>
            <a:ext cx="5448300" cy="5165070"/>
            <a:chOff x="0" y="0"/>
            <a:chExt cx="7264400" cy="6886761"/>
          </a:xfrm>
        </p:grpSpPr>
        <p:sp>
          <p:nvSpPr>
            <p:cNvPr id="4" name="TextBox 4"/>
            <p:cNvSpPr txBox="1"/>
            <p:nvPr/>
          </p:nvSpPr>
          <p:spPr>
            <a:xfrm>
              <a:off x="0" y="-47625"/>
              <a:ext cx="7264400" cy="5300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8C6F53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MOTHER RAHAB NJOKI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878058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 b="1">
                  <a:solidFill>
                    <a:srgbClr val="3E5C6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Strength under scarcity</a:t>
              </a:r>
              <a:r>
                <a:rPr lang="en-US" sz="2099">
                  <a:solidFill>
                    <a:srgbClr val="3E5C6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my mother taught me resilience, ensuring our family thrived amidst challenges, instilling values that guided my journey forward.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023921"/>
              <a:ext cx="7264400" cy="5300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8C6F53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SISTER PERPETUAL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4949603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3E5C6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Sharing burdens with my sister, we embraced life's trials together, fostering a bond that strengthened our resolve to overcome obstacles in unity.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-3137432" y="7200900"/>
            <a:ext cx="6274865" cy="41148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BC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72950" y="0"/>
            <a:ext cx="6115050" cy="10287000"/>
            <a:chOff x="0" y="0"/>
            <a:chExt cx="947381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7381" cy="1593725"/>
            </a:xfrm>
            <a:custGeom>
              <a:avLst/>
              <a:gdLst/>
              <a:ahLst/>
              <a:cxnLst/>
              <a:rect l="l" t="t" r="r" b="b"/>
              <a:pathLst>
                <a:path w="947381" h="1593725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58" b="-5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1562100"/>
            <a:ext cx="9763125" cy="4102836"/>
            <a:chOff x="0" y="0"/>
            <a:chExt cx="13017500" cy="5470448"/>
          </a:xfrm>
        </p:grpSpPr>
        <p:sp>
          <p:nvSpPr>
            <p:cNvPr id="5" name="TextBox 5"/>
            <p:cNvSpPr txBox="1"/>
            <p:nvPr/>
          </p:nvSpPr>
          <p:spPr>
            <a:xfrm>
              <a:off x="0" y="3319799"/>
              <a:ext cx="130175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8C6F53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TRANSITION TO CHERETA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513617"/>
              <a:ext cx="13017500" cy="9568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3E5C6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Attending Chereta Secondary School introduced me to structured learning, </a:t>
              </a:r>
              <a:r>
                <a:rPr lang="en-US" sz="2099" b="1">
                  <a:solidFill>
                    <a:srgbClr val="3E5C6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formal systems</a:t>
              </a:r>
              <a:r>
                <a:rPr lang="en-US" sz="2099">
                  <a:solidFill>
                    <a:srgbClr val="3E5C6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and the importance of education as a gateway to opportunity.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3017500" cy="2815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99"/>
                </a:lnSpc>
              </a:pPr>
              <a:r>
                <a:rPr lang="en-US" sz="6999" spc="-139">
                  <a:solidFill>
                    <a:srgbClr val="3E5C62"/>
                  </a:solidFill>
                  <a:latin typeface="Tenor Sans"/>
                  <a:ea typeface="Tenor Sans"/>
                  <a:cs typeface="Tenor Sans"/>
                  <a:sym typeface="Tenor Sans"/>
                </a:rPr>
                <a:t>The Journey of Formal Education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2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72950" y="0"/>
            <a:ext cx="6115050" cy="10287000"/>
            <a:chOff x="0" y="0"/>
            <a:chExt cx="947381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7381" cy="1593725"/>
            </a:xfrm>
            <a:custGeom>
              <a:avLst/>
              <a:gdLst/>
              <a:ahLst/>
              <a:cxnLst/>
              <a:rect l="l" t="t" r="r" b="b"/>
              <a:pathLst>
                <a:path w="947381" h="1593725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58" b="-5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1562100"/>
            <a:ext cx="9763125" cy="4102836"/>
            <a:chOff x="0" y="0"/>
            <a:chExt cx="13017500" cy="5470448"/>
          </a:xfrm>
        </p:grpSpPr>
        <p:sp>
          <p:nvSpPr>
            <p:cNvPr id="5" name="TextBox 5"/>
            <p:cNvSpPr txBox="1"/>
            <p:nvPr/>
          </p:nvSpPr>
          <p:spPr>
            <a:xfrm>
              <a:off x="0" y="3319799"/>
              <a:ext cx="130175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8C6F53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A CALL TO ACTION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513617"/>
              <a:ext cx="13017500" cy="9568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3E5C6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 pivotal moment arrived when my cousin declared, “You will study IT,” igniting my passion for technology despite my initial fears.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3017500" cy="2815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99"/>
                </a:lnSpc>
              </a:pPr>
              <a:r>
                <a:rPr lang="en-US" sz="6999" spc="-139">
                  <a:solidFill>
                    <a:srgbClr val="3E5C62"/>
                  </a:solidFill>
                  <a:latin typeface="Tenor Sans"/>
                  <a:ea typeface="Tenor Sans"/>
                  <a:cs typeface="Tenor Sans"/>
                  <a:sym typeface="Tenor Sans"/>
                </a:rPr>
                <a:t>The Moment That Changed Everything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BC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72950" y="0"/>
            <a:ext cx="6115050" cy="10287000"/>
            <a:chOff x="0" y="0"/>
            <a:chExt cx="947381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7381" cy="1593725"/>
            </a:xfrm>
            <a:custGeom>
              <a:avLst/>
              <a:gdLst/>
              <a:ahLst/>
              <a:cxnLst/>
              <a:rect l="l" t="t" r="r" b="b"/>
              <a:pathLst>
                <a:path w="947381" h="1593725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58" b="-5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1562100"/>
            <a:ext cx="9763125" cy="4102836"/>
            <a:chOff x="0" y="0"/>
            <a:chExt cx="13017500" cy="5470448"/>
          </a:xfrm>
        </p:grpSpPr>
        <p:sp>
          <p:nvSpPr>
            <p:cNvPr id="5" name="TextBox 5"/>
            <p:cNvSpPr txBox="1"/>
            <p:nvPr/>
          </p:nvSpPr>
          <p:spPr>
            <a:xfrm>
              <a:off x="0" y="3319799"/>
              <a:ext cx="130175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8C6F53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TRANSFORMATIVE JOURNEY IN TECH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513617"/>
              <a:ext cx="13017500" cy="9568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3E5C6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Embracing long hours and overcoming bugs, I forged my identity as a developer during my time at Teach2Give.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3017500" cy="2815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99"/>
                </a:lnSpc>
              </a:pPr>
              <a:r>
                <a:rPr lang="en-US" sz="6999" spc="-139">
                  <a:solidFill>
                    <a:srgbClr val="3E5C62"/>
                  </a:solidFill>
                  <a:latin typeface="Tenor Sans"/>
                  <a:ea typeface="Tenor Sans"/>
                  <a:cs typeface="Tenor Sans"/>
                  <a:sym typeface="Tenor Sans"/>
                </a:rPr>
                <a:t>The Rite of Passage Through Learning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2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72950" y="0"/>
            <a:ext cx="6115050" cy="10287000"/>
            <a:chOff x="0" y="0"/>
            <a:chExt cx="947381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7381" cy="1593725"/>
            </a:xfrm>
            <a:custGeom>
              <a:avLst/>
              <a:gdLst/>
              <a:ahLst/>
              <a:cxnLst/>
              <a:rect l="l" t="t" r="r" b="b"/>
              <a:pathLst>
                <a:path w="947381" h="1593725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58" b="-5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1562100"/>
            <a:ext cx="9763125" cy="4102836"/>
            <a:chOff x="0" y="0"/>
            <a:chExt cx="13017500" cy="5470448"/>
          </a:xfrm>
        </p:grpSpPr>
        <p:sp>
          <p:nvSpPr>
            <p:cNvPr id="5" name="TextBox 5"/>
            <p:cNvSpPr txBox="1"/>
            <p:nvPr/>
          </p:nvSpPr>
          <p:spPr>
            <a:xfrm>
              <a:off x="0" y="3319799"/>
              <a:ext cx="130175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8C6F53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MASTERY AT DEKUT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513617"/>
              <a:ext cx="13017500" cy="9568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3E5C6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At the DeKUT Startup Center, I honed my skills through collaborative projects, particularly the </a:t>
              </a:r>
              <a:r>
                <a:rPr lang="en-US" sz="2099" b="1">
                  <a:solidFill>
                    <a:srgbClr val="3E5C6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Skill Match AI</a:t>
              </a:r>
              <a:r>
                <a:rPr lang="en-US" sz="2099">
                  <a:solidFill>
                    <a:srgbClr val="3E5C6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initiative focused on backend architecture.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3017500" cy="2815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99"/>
                </a:lnSpc>
              </a:pPr>
              <a:r>
                <a:rPr lang="en-US" sz="6999" spc="-139">
                  <a:solidFill>
                    <a:srgbClr val="3E5C62"/>
                  </a:solidFill>
                  <a:latin typeface="Tenor Sans"/>
                  <a:ea typeface="Tenor Sans"/>
                  <a:cs typeface="Tenor Sans"/>
                  <a:sym typeface="Tenor Sans"/>
                </a:rPr>
                <a:t>Application of Skills in Real-World Projects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BC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1562086"/>
            <a:ext cx="8324850" cy="2114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</a:pPr>
            <a:r>
              <a:rPr lang="en-US" sz="6999" spc="-139">
                <a:solidFill>
                  <a:srgbClr val="3E5C62"/>
                </a:solidFill>
                <a:latin typeface="Tenor Sans"/>
                <a:ea typeface="Tenor Sans"/>
                <a:cs typeface="Tenor Sans"/>
                <a:sym typeface="Tenor Sans"/>
              </a:rPr>
              <a:t>The Code of My Fathers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734675" y="3352794"/>
            <a:ext cx="5448300" cy="5587836"/>
            <a:chOff x="0" y="0"/>
            <a:chExt cx="7264400" cy="7450448"/>
          </a:xfrm>
        </p:grpSpPr>
        <p:sp>
          <p:nvSpPr>
            <p:cNvPr id="4" name="TextBox 4"/>
            <p:cNvSpPr txBox="1"/>
            <p:nvPr/>
          </p:nvSpPr>
          <p:spPr>
            <a:xfrm>
              <a:off x="0" y="-47625"/>
              <a:ext cx="7264400" cy="10937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8C6F53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WHERE TRADITION MEETS TECHNOLOGY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441745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3E5C6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Irua represents the </a:t>
              </a:r>
              <a:r>
                <a:rPr lang="en-US" sz="2099" b="1">
                  <a:solidFill>
                    <a:srgbClr val="3E5C6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transformative pain</a:t>
              </a:r>
              <a:r>
                <a:rPr lang="en-US" sz="2099">
                  <a:solidFill>
                    <a:srgbClr val="3E5C6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and identity that shapes our understanding of technology and cultural heritage in a rapidly changing world.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587608"/>
              <a:ext cx="7264400" cy="5300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8C6F53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RURACIO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5513291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3E5C6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Ruracio symbolizes </a:t>
              </a:r>
              <a:r>
                <a:rPr lang="en-US" sz="2099" b="1">
                  <a:solidFill>
                    <a:srgbClr val="3E5C6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structured commitment</a:t>
              </a:r>
              <a:r>
                <a:rPr lang="en-US" sz="2099">
                  <a:solidFill>
                    <a:srgbClr val="3E5C6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and trust, merging traditional values with modern practices to foster growth and harmony in our communities.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-3137432" y="7200900"/>
            <a:ext cx="6274865" cy="41148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2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72950" y="0"/>
            <a:ext cx="6115050" cy="10287000"/>
            <a:chOff x="0" y="0"/>
            <a:chExt cx="947381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7381" cy="1593725"/>
            </a:xfrm>
            <a:custGeom>
              <a:avLst/>
              <a:gdLst/>
              <a:ahLst/>
              <a:cxnLst/>
              <a:rect l="l" t="t" r="r" b="b"/>
              <a:pathLst>
                <a:path w="947381" h="1593725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58" b="-5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1562100"/>
            <a:ext cx="9763125" cy="4102836"/>
            <a:chOff x="0" y="0"/>
            <a:chExt cx="13017500" cy="5470448"/>
          </a:xfrm>
        </p:grpSpPr>
        <p:sp>
          <p:nvSpPr>
            <p:cNvPr id="5" name="TextBox 5"/>
            <p:cNvSpPr txBox="1"/>
            <p:nvPr/>
          </p:nvSpPr>
          <p:spPr>
            <a:xfrm>
              <a:off x="0" y="3319799"/>
              <a:ext cx="130175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8C6F53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MENTORSHIP AND STRENGTH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513617"/>
              <a:ext cx="13017500" cy="9568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3E5C6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My journey is deeply influenced by strong women who taught me resilience and collaboration, shaping my path toward success in technology.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3017500" cy="2815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99"/>
                </a:lnSpc>
              </a:pPr>
              <a:r>
                <a:rPr lang="en-US" sz="6999" spc="-139">
                  <a:solidFill>
                    <a:srgbClr val="3E5C62"/>
                  </a:solidFill>
                  <a:latin typeface="Tenor Sans"/>
                  <a:ea typeface="Tenor Sans"/>
                  <a:cs typeface="Tenor Sans"/>
                  <a:sym typeface="Tenor Sans"/>
                </a:rPr>
                <a:t>The Women Who Shaped My Journey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BC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72950" y="0"/>
            <a:ext cx="6115050" cy="10287000"/>
            <a:chOff x="0" y="0"/>
            <a:chExt cx="947381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7381" cy="1593725"/>
            </a:xfrm>
            <a:custGeom>
              <a:avLst/>
              <a:gdLst/>
              <a:ahLst/>
              <a:cxnLst/>
              <a:rect l="l" t="t" r="r" b="b"/>
              <a:pathLst>
                <a:path w="947381" h="1593725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58" b="-5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1562100"/>
            <a:ext cx="9763125" cy="5158784"/>
            <a:chOff x="0" y="0"/>
            <a:chExt cx="13017500" cy="6878378"/>
          </a:xfrm>
        </p:grpSpPr>
        <p:sp>
          <p:nvSpPr>
            <p:cNvPr id="5" name="TextBox 5"/>
            <p:cNvSpPr txBox="1"/>
            <p:nvPr/>
          </p:nvSpPr>
          <p:spPr>
            <a:xfrm>
              <a:off x="0" y="4727729"/>
              <a:ext cx="130175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8C6F53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BRIDGING RURAL AND URBAN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5921547"/>
              <a:ext cx="13017500" cy="9568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3E5C6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Our vision focuses on leveraging technology to empower </a:t>
              </a:r>
              <a:r>
                <a:rPr lang="en-US" sz="2099" b="1">
                  <a:solidFill>
                    <a:srgbClr val="3E5C6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rural communities</a:t>
              </a:r>
              <a:r>
                <a:rPr lang="en-US" sz="2099">
                  <a:solidFill>
                    <a:srgbClr val="3E5C6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through sustainable agricultural practices and </a:t>
              </a:r>
              <a:r>
                <a:rPr lang="en-US" sz="2099" b="1">
                  <a:solidFill>
                    <a:srgbClr val="3E5C6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innovative digital solutions</a:t>
              </a:r>
              <a:r>
                <a:rPr lang="en-US" sz="2099">
                  <a:solidFill>
                    <a:srgbClr val="3E5C6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3017500" cy="4223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99"/>
                </a:lnSpc>
              </a:pPr>
              <a:r>
                <a:rPr lang="en-US" sz="6999" spc="-139">
                  <a:solidFill>
                    <a:srgbClr val="3E5C62"/>
                  </a:solidFill>
                  <a:latin typeface="Tenor Sans"/>
                  <a:ea typeface="Tenor Sans"/>
                  <a:cs typeface="Tenor Sans"/>
                  <a:sym typeface="Tenor Sans"/>
                </a:rPr>
                <a:t>Building a Sustainable Future Through Technology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2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087176">
            <a:off x="3189187" y="-10712043"/>
            <a:ext cx="14136818" cy="12003443"/>
          </a:xfrm>
          <a:custGeom>
            <a:avLst/>
            <a:gdLst/>
            <a:ahLst/>
            <a:cxnLst/>
            <a:rect l="l" t="t" r="r" b="b"/>
            <a:pathLst>
              <a:path w="14136818" h="12003443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105025" y="1562100"/>
            <a:ext cx="14077950" cy="1055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</a:pPr>
            <a:r>
              <a:rPr lang="en-US" sz="6999" spc="-139">
                <a:solidFill>
                  <a:srgbClr val="3E5C62"/>
                </a:solidFill>
                <a:latin typeface="Tenor Sans"/>
                <a:ea typeface="Tenor Sans"/>
                <a:cs typeface="Tenor Sans"/>
                <a:sym typeface="Tenor Sans"/>
              </a:rPr>
              <a:t>Technical Skills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66750" y="5143500"/>
            <a:ext cx="5448300" cy="2312513"/>
            <a:chOff x="0" y="0"/>
            <a:chExt cx="7264400" cy="3083350"/>
          </a:xfrm>
        </p:grpSpPr>
        <p:sp>
          <p:nvSpPr>
            <p:cNvPr id="5" name="TextBox 5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8C6F53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NODE.JS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146193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3E5C6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Node.js is a robust JavaScript runtime that allows for </a:t>
              </a:r>
              <a:r>
                <a:rPr lang="en-US" sz="2099" b="1">
                  <a:solidFill>
                    <a:srgbClr val="3E5C6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efficient server-side development</a:t>
              </a:r>
              <a:r>
                <a:rPr lang="en-US" sz="2099">
                  <a:solidFill>
                    <a:srgbClr val="3E5C6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enabling real-time web applications and scalability.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419850" y="5143500"/>
            <a:ext cx="5448300" cy="2312513"/>
            <a:chOff x="0" y="0"/>
            <a:chExt cx="7264400" cy="3083350"/>
          </a:xfrm>
        </p:grpSpPr>
        <p:sp>
          <p:nvSpPr>
            <p:cNvPr id="8" name="TextBox 8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8C6F53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RESTFUL APIS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146193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3E5C6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RESTful APIs facilitate seamless communication between different software systems, allowing for efficient data exchange and integration across platforms.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172950" y="5143500"/>
            <a:ext cx="5448300" cy="2312513"/>
            <a:chOff x="0" y="0"/>
            <a:chExt cx="7264400" cy="3083350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8C6F53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POSTGRESQL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146193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3E5C6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PostgreSQL is a powerful open-source relational database management system, known for its reliability, performance, and support for advanced data types and queries.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BC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72950" y="0"/>
            <a:ext cx="6115050" cy="10287000"/>
            <a:chOff x="0" y="0"/>
            <a:chExt cx="947381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7381" cy="1593725"/>
            </a:xfrm>
            <a:custGeom>
              <a:avLst/>
              <a:gdLst/>
              <a:ahLst/>
              <a:cxnLst/>
              <a:rect l="l" t="t" r="r" b="b"/>
              <a:pathLst>
                <a:path w="947381" h="1593725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58" b="-5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1562100"/>
            <a:ext cx="9763125" cy="5158784"/>
            <a:chOff x="0" y="0"/>
            <a:chExt cx="13017500" cy="6878378"/>
          </a:xfrm>
        </p:grpSpPr>
        <p:sp>
          <p:nvSpPr>
            <p:cNvPr id="5" name="TextBox 5"/>
            <p:cNvSpPr txBox="1"/>
            <p:nvPr/>
          </p:nvSpPr>
          <p:spPr>
            <a:xfrm>
              <a:off x="0" y="4727729"/>
              <a:ext cx="130175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8C6F53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MULTILINGUAL CONNECTIONS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5921547"/>
              <a:ext cx="13017500" cy="9568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3E5C6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Language shapes our identity, fostering connections across cultures and enhancing understanding in technology and community development initiatives.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3017500" cy="4223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99"/>
                </a:lnSpc>
              </a:pPr>
              <a:r>
                <a:rPr lang="en-US" sz="6999" spc="-139">
                  <a:solidFill>
                    <a:srgbClr val="3E5C62"/>
                  </a:solidFill>
                  <a:latin typeface="Tenor Sans"/>
                  <a:ea typeface="Tenor Sans"/>
                  <a:cs typeface="Tenor Sans"/>
                  <a:sym typeface="Tenor Sans"/>
                </a:rPr>
                <a:t>Bridging Cultures Through Language and Communication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2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1562086"/>
            <a:ext cx="8324850" cy="2114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</a:pPr>
            <a:r>
              <a:rPr lang="en-US" sz="6999" spc="-139">
                <a:solidFill>
                  <a:srgbClr val="3E5C62"/>
                </a:solidFill>
                <a:latin typeface="Tenor Sans"/>
                <a:ea typeface="Tenor Sans"/>
                <a:cs typeface="Tenor Sans"/>
                <a:sym typeface="Tenor Sans"/>
              </a:rPr>
              <a:t>Acknowledgements and Gratitude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734675" y="3352794"/>
            <a:ext cx="5448300" cy="5165070"/>
            <a:chOff x="0" y="0"/>
            <a:chExt cx="7264400" cy="6886761"/>
          </a:xfrm>
        </p:grpSpPr>
        <p:sp>
          <p:nvSpPr>
            <p:cNvPr id="4" name="TextBox 4"/>
            <p:cNvSpPr txBox="1"/>
            <p:nvPr/>
          </p:nvSpPr>
          <p:spPr>
            <a:xfrm>
              <a:off x="0" y="-47625"/>
              <a:ext cx="7264400" cy="5300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8C6F53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FAMILY SUPPORT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878058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3E5C6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My family's unwavering support has been a vital foundation, nurturing my dreams and instilling resilience, no matter the circumstances.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023921"/>
              <a:ext cx="7264400" cy="5300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8C6F53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COUSIN EVA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4949603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3E5C6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Cousin Eva's prophetic guidance inspired my journey into technology, pushing me to pursue my passion and embrace my potential.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-3137432" y="7200900"/>
            <a:ext cx="6274865" cy="41148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BC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926989">
            <a:off x="-12431368" y="-8975965"/>
            <a:ext cx="27274407" cy="25058977"/>
          </a:xfrm>
          <a:custGeom>
            <a:avLst/>
            <a:gdLst/>
            <a:ahLst/>
            <a:cxnLst/>
            <a:rect l="l" t="t" r="r" b="b"/>
            <a:pathLst>
              <a:path w="27274407" h="25058977">
                <a:moveTo>
                  <a:pt x="0" y="0"/>
                </a:moveTo>
                <a:lnTo>
                  <a:pt x="27274407" y="0"/>
                </a:lnTo>
                <a:lnTo>
                  <a:pt x="27274407" y="25058977"/>
                </a:lnTo>
                <a:lnTo>
                  <a:pt x="0" y="250589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rot="5111384">
            <a:off x="13680135" y="1098024"/>
            <a:ext cx="12122938" cy="11672351"/>
          </a:xfrm>
          <a:custGeom>
            <a:avLst/>
            <a:gdLst/>
            <a:ahLst/>
            <a:cxnLst/>
            <a:rect l="l" t="t" r="r" b="b"/>
            <a:pathLst>
              <a:path w="12122938" h="11672351">
                <a:moveTo>
                  <a:pt x="0" y="0"/>
                </a:moveTo>
                <a:lnTo>
                  <a:pt x="12122939" y="0"/>
                </a:lnTo>
                <a:lnTo>
                  <a:pt x="12122939" y="11672352"/>
                </a:lnTo>
                <a:lnTo>
                  <a:pt x="0" y="116723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66750" y="1562100"/>
            <a:ext cx="11201400" cy="2114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</a:pPr>
            <a:r>
              <a:rPr lang="en-US" sz="6999" spc="-139">
                <a:solidFill>
                  <a:srgbClr val="3E5C62"/>
                </a:solidFill>
                <a:latin typeface="Tenor Sans"/>
                <a:ea typeface="Tenor Sans"/>
                <a:cs typeface="Tenor Sans"/>
                <a:sym typeface="Tenor Sans"/>
              </a:rPr>
              <a:t>Thank You 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505</Words>
  <Application>Microsoft Office PowerPoint</Application>
  <PresentationFormat>Custom</PresentationFormat>
  <Paragraphs>49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Calibri</vt:lpstr>
      <vt:lpstr>Arial</vt:lpstr>
      <vt:lpstr>Clear Sans Medium</vt:lpstr>
      <vt:lpstr>Tenor Sans</vt:lpstr>
      <vt:lpstr>Clear Sans Bold</vt:lpstr>
      <vt:lpstr>Clear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From Water Jars to Code</dc:title>
  <dc:description>Presentation - From Water Jars to Code</dc:description>
  <cp:lastModifiedBy>ALEX KAROSH</cp:lastModifiedBy>
  <cp:revision>2</cp:revision>
  <dcterms:created xsi:type="dcterms:W3CDTF">2006-08-16T00:00:00Z</dcterms:created>
  <dcterms:modified xsi:type="dcterms:W3CDTF">2026-01-28T10:06:37Z</dcterms:modified>
  <dc:identifier>DAG_scnZTOk</dc:identifier>
</cp:coreProperties>
</file>