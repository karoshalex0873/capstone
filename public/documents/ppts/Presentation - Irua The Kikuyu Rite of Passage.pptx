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ilda Display" charset="1" panose="02000000000000000000"/>
      <p:regular r:id="rId16"/>
    </p:embeddedFont>
    <p:embeddedFont>
      <p:font typeface="HK Grotesk Light" charset="1" panose="00000400000000000000"/>
      <p:regular r:id="rId17"/>
    </p:embeddedFont>
    <p:embeddedFont>
      <p:font typeface="HK Grotesk Bold" charset="1" panose="00000800000000000000"/>
      <p:regular r:id="rId18"/>
    </p:embeddedFont>
    <p:embeddedFont>
      <p:font typeface="HK Grotesk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1149064"/>
            <a:ext cx="6886575" cy="3760823"/>
            <a:chOff x="0" y="0"/>
            <a:chExt cx="9182100" cy="501443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11443"/>
              <a:ext cx="9182100" cy="250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63"/>
                </a:lnSpc>
              </a:pPr>
              <a:r>
                <a:rPr lang="en-US" sz="7063">
                  <a:solidFill>
                    <a:srgbClr val="D6B3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Irua: The Kikuyu Rite of Passage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BC986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Irua: A Cultural Journey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B3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28 Jan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8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8B5E3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Context of the Kikuyu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Kikuyu are the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largest ethnic group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 Kenya, known for their rich oral traditions, structured social systems, and the Irua rite as a pivotal cultural milestone.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633B1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Kikuyu Culture and Society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B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8B5E3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What is Irua?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Irua signifies male circumcision, marking the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transition from boyhood to manhood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 This rite encompasses physical, social, and spiritual transformations, vital for identity within Kikuyu culture.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Rite of Passage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6B3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Why Irua Matters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6B3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Irua is vital in Kikuyu culture, as it </a:t>
              </a:r>
              <a:r>
                <a:rPr lang="en-US" b="true" sz="3000">
                  <a:solidFill>
                    <a:srgbClr val="D6B3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confers adult responsibilities</a:t>
              </a:r>
              <a:r>
                <a:rPr lang="en-US" sz="3000">
                  <a:solidFill>
                    <a:srgbClr val="D6B3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fosters community bonds, demonstrating courage and endurance, while enriching social identity and cohesion.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BC986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significance of Irua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8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8B5E3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Initiates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Irua rite primarily involves young boys aged 12 to 20, marking a significant transition as they are supported by family and community elders throughout the process.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633B1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Young Men Embracing Their New Roles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B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-5468013" y="-6350191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067508" cy="1329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7508" cy="1329083"/>
            </a:xfrm>
            <a:custGeom>
              <a:avLst/>
              <a:gdLst/>
              <a:ahLst/>
              <a:cxnLst/>
              <a:rect r="r" b="b" t="t" l="l"/>
              <a:pathLst>
                <a:path h="1329083" w="1067508">
                  <a:moveTo>
                    <a:pt x="43062" y="0"/>
                  </a:moveTo>
                  <a:lnTo>
                    <a:pt x="1024446" y="0"/>
                  </a:lnTo>
                  <a:cubicBezTo>
                    <a:pt x="1035867" y="0"/>
                    <a:pt x="1046820" y="4537"/>
                    <a:pt x="1054895" y="12613"/>
                  </a:cubicBezTo>
                  <a:cubicBezTo>
                    <a:pt x="1062971" y="20688"/>
                    <a:pt x="1067508" y="31641"/>
                    <a:pt x="1067508" y="43062"/>
                  </a:cubicBezTo>
                  <a:lnTo>
                    <a:pt x="1067508" y="1286021"/>
                  </a:lnTo>
                  <a:cubicBezTo>
                    <a:pt x="1067508" y="1309803"/>
                    <a:pt x="1048228" y="1329083"/>
                    <a:pt x="1024446" y="1329083"/>
                  </a:cubicBezTo>
                  <a:lnTo>
                    <a:pt x="43062" y="1329083"/>
                  </a:lnTo>
                  <a:cubicBezTo>
                    <a:pt x="19280" y="1329083"/>
                    <a:pt x="0" y="1309803"/>
                    <a:pt x="0" y="1286021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3638550"/>
            <a:ext cx="6886575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8B5E3C"/>
                </a:solidFill>
                <a:latin typeface="HK Grotesk"/>
                <a:ea typeface="HK Grotesk"/>
                <a:cs typeface="HK Grotesk"/>
                <a:sym typeface="HK Grotesk"/>
              </a:rPr>
              <a:t>The Irua process includes </a:t>
            </a:r>
            <a:r>
              <a:rPr lang="en-US" b="true" sz="3000">
                <a:solidFill>
                  <a:srgbClr val="8B5E3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preparatory teachings</a:t>
            </a:r>
            <a:r>
              <a:rPr lang="en-US" sz="3000">
                <a:solidFill>
                  <a:srgbClr val="8B5E3C"/>
                </a:solidFill>
                <a:latin typeface="HK Grotesk"/>
                <a:ea typeface="HK Grotesk"/>
                <a:cs typeface="HK Grotesk"/>
                <a:sym typeface="HK Grotesk"/>
              </a:rPr>
              <a:t>, ritual marking, and healing phases, emphasizing guidance from elders as initiates transition into adulthood, fostering cultural connection and identity.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6B3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Role of Elders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6B3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Elders play a vital role in </a:t>
              </a:r>
              <a:r>
                <a:rPr lang="en-US" b="true" sz="3000">
                  <a:solidFill>
                    <a:srgbClr val="D6B3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mentoring</a:t>
              </a:r>
              <a:r>
                <a:rPr lang="en-US" sz="3000">
                  <a:solidFill>
                    <a:srgbClr val="D6B3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young initiates, teaching them cultural ethics and responsibilities while providing support and guidance throughout their transformative journey into adulthood.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BC986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Guiding Youth Through Cultural Transformation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8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8B5E3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Cultural Lessons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Irua rite instills vital values, including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courage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community accountability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and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respect for tradition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shaping the ethics and identity of the initiates as they transition into adulthood.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633B1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Core Values Imparted through Irua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B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8B5E3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Irua Today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Irua has evolved to prioritize </a:t>
              </a: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safety and ethics</a:t>
              </a:r>
              <a:r>
                <a:rPr lang="en-US" sz="3000">
                  <a:solidFill>
                    <a:srgbClr val="8B5E3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focusing on cultural education. It preserves identity and communal values while adapting to contemporary societal norms.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8B5E3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Modern Adaptations and Cultural Relevance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74064">
            <a:off x="14221481" y="6404997"/>
            <a:ext cx="9086976" cy="8558279"/>
          </a:xfrm>
          <a:custGeom>
            <a:avLst/>
            <a:gdLst/>
            <a:ahLst/>
            <a:cxnLst/>
            <a:rect r="r" b="b" t="t" l="l"/>
            <a:pathLst>
              <a:path h="8558279" w="9086976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248150"/>
            <a:ext cx="16182975" cy="6038850"/>
            <a:chOff x="0" y="0"/>
            <a:chExt cx="217815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150" cy="812800"/>
            </a:xfrm>
            <a:custGeom>
              <a:avLst/>
              <a:gdLst/>
              <a:ahLst/>
              <a:cxnLst/>
              <a:rect r="r" b="b" t="t" l="l"/>
              <a:pathLst>
                <a:path h="812800" w="2178150">
                  <a:moveTo>
                    <a:pt x="19136" y="0"/>
                  </a:moveTo>
                  <a:lnTo>
                    <a:pt x="2159014" y="0"/>
                  </a:lnTo>
                  <a:cubicBezTo>
                    <a:pt x="2169583" y="0"/>
                    <a:pt x="2178150" y="8567"/>
                    <a:pt x="2178150" y="19136"/>
                  </a:cubicBezTo>
                  <a:lnTo>
                    <a:pt x="2178150" y="793664"/>
                  </a:lnTo>
                  <a:cubicBezTo>
                    <a:pt x="2178150" y="804233"/>
                    <a:pt x="2169583" y="812800"/>
                    <a:pt x="2159014" y="812800"/>
                  </a:cubicBezTo>
                  <a:lnTo>
                    <a:pt x="19136" y="812800"/>
                  </a:lnTo>
                  <a:cubicBezTo>
                    <a:pt x="8567" y="812800"/>
                    <a:pt x="0" y="804233"/>
                    <a:pt x="0" y="793664"/>
                  </a:cubicBezTo>
                  <a:lnTo>
                    <a:pt x="0" y="19136"/>
                  </a:lnTo>
                  <a:cubicBezTo>
                    <a:pt x="0" y="8567"/>
                    <a:pt x="8567" y="0"/>
                    <a:pt x="19136" y="0"/>
                  </a:cubicBezTo>
                  <a:close/>
                </a:path>
              </a:pathLst>
            </a:custGeom>
            <a:blipFill>
              <a:blip r:embed="rId4"/>
              <a:stretch>
                <a:fillRect l="-257" t="0" r="-25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5516225" cy="2247900"/>
            <a:chOff x="0" y="0"/>
            <a:chExt cx="20688300" cy="2997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206883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6B3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Enduring Significance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78075"/>
              <a:ext cx="206883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D6B3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 bridge between cultures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Irua: The Kikuyu Rite of Passage</dc:description>
  <dc:identifier>DAG_sYE2uPY</dc:identifier>
  <dcterms:modified xsi:type="dcterms:W3CDTF">2011-08-01T06:04:30Z</dcterms:modified>
  <cp:revision>1</cp:revision>
  <dc:title>Presentation - Irua: The Kikuyu Rite of Passage</dc:title>
</cp:coreProperties>
</file>