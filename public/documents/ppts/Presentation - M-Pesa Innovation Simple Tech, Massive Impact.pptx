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Poppins Bold" panose="020B0604020202020204" charset="0"/>
      <p:regular r:id="rId11"/>
    </p:embeddedFont>
    <p:embeddedFont>
      <p:font typeface="Proxima Nova" panose="020B0604020202020204" charset="0"/>
      <p:regular r:id="rId12"/>
    </p:embeddedFont>
    <p:embeddedFont>
      <p:font typeface="Proxima Nova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53" y="7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1AD75-B19B-4349-B66B-88595C64A281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B57838-6A13-4748-A29A-FC2D071D9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21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wasn't just inconvenience; it was a structural barrier trapping millions outside the formal economy.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B57838-6A13-4748-A29A-FC2D071D98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23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B57838-6A13-4748-A29A-FC2D071D98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47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5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2700"/>
            <a:ext cx="9144000" cy="10299700"/>
            <a:chOff x="0" y="0"/>
            <a:chExt cx="786406" cy="88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6406" cy="885799"/>
            </a:xfrm>
            <a:custGeom>
              <a:avLst/>
              <a:gdLst/>
              <a:ahLst/>
              <a:cxnLst/>
              <a:rect l="l" t="t" r="r" b="b"/>
              <a:pathLst>
                <a:path w="786406" h="885799">
                  <a:moveTo>
                    <a:pt x="0" y="0"/>
                  </a:moveTo>
                  <a:lnTo>
                    <a:pt x="786406" y="0"/>
                  </a:lnTo>
                  <a:lnTo>
                    <a:pt x="786406" y="885799"/>
                  </a:lnTo>
                  <a:lnTo>
                    <a:pt x="0" y="885799"/>
                  </a:lnTo>
                  <a:close/>
                </a:path>
              </a:pathLst>
            </a:custGeom>
            <a:blipFill>
              <a:blip r:embed="rId2"/>
              <a:stretch>
                <a:fillRect t="-157" b="-15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59606"/>
            <a:ext cx="6901610" cy="5893252"/>
            <a:chOff x="-20047" y="-9525"/>
            <a:chExt cx="9202147" cy="7857668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9182100" cy="6025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M-Pesa: Simple Tech, Massive Impact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-20047" y="6476999"/>
              <a:ext cx="9182100" cy="13711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ow a Backend-First Solution Built Africa's Financial AP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66750" y="8115300"/>
            <a:ext cx="6871540" cy="831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Presented by [Karobia Backend-Focused Software Engineer]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759735" y="666750"/>
            <a:ext cx="2861515" cy="1430758"/>
            <a:chOff x="0" y="0"/>
            <a:chExt cx="3815353" cy="1907677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907677" cy="1907677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B85C38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9525"/>
                <a:ext cx="812800" cy="803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907677" y="0"/>
              <a:ext cx="1907677" cy="1907677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85C38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8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144000" cy="10287000"/>
            <a:chOff x="0" y="0"/>
            <a:chExt cx="1457995" cy="16402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7995" cy="1640244"/>
            </a:xfrm>
            <a:custGeom>
              <a:avLst/>
              <a:gdLst/>
              <a:ahLst/>
              <a:cxnLst/>
              <a:rect l="l" t="t" r="r" b="b"/>
              <a:pathLst>
                <a:path w="1457995" h="1640244">
                  <a:moveTo>
                    <a:pt x="0" y="0"/>
                  </a:moveTo>
                  <a:lnTo>
                    <a:pt x="1457995" y="0"/>
                  </a:lnTo>
                  <a:lnTo>
                    <a:pt x="1457995" y="1640244"/>
                  </a:lnTo>
                  <a:lnTo>
                    <a:pt x="0" y="1640244"/>
                  </a:lnTo>
                  <a:close/>
                </a:path>
              </a:pathLst>
            </a:custGeom>
            <a:blipFill>
              <a:blip r:embed="rId3"/>
              <a:stretch>
                <a:fillRect t="-219" b="-2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2042" y="659606"/>
            <a:ext cx="7128933" cy="8031019"/>
            <a:chOff x="0" y="-9525"/>
            <a:chExt cx="9505244" cy="10708025"/>
          </a:xfrm>
        </p:grpSpPr>
        <p:sp>
          <p:nvSpPr>
            <p:cNvPr id="5" name="TextBox 5"/>
            <p:cNvSpPr txBox="1"/>
            <p:nvPr/>
          </p:nvSpPr>
          <p:spPr>
            <a:xfrm>
              <a:off x="0" y="3543300"/>
              <a:ext cx="9167399" cy="6145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b="1" dirty="0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The World Before M-Pesa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23144" y="5969000"/>
              <a:ext cx="9182100" cy="4729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lvl="0" indent="-457200" algn="l">
                <a:lnSpc>
                  <a:spcPts val="3120"/>
                </a:lnSpc>
                <a:buFont typeface="+mj-lt"/>
                <a:buAutoNum type="arabicPeriod"/>
              </a:pPr>
              <a:r>
                <a:rPr lang="en-US" sz="2400" u="none" strike="noStrik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Banking was for the urban elite (less than 20% population).</a:t>
              </a:r>
            </a:p>
            <a:p>
              <a:pPr marL="457200" lvl="0" indent="-457200" algn="l">
                <a:lnSpc>
                  <a:spcPts val="3120"/>
                </a:lnSpc>
                <a:buFont typeface="+mj-lt"/>
                <a:buAutoNum type="arabicPeriod"/>
              </a:pPr>
              <a:endParaRPr lang="en-US" sz="2400" u="none" strike="noStrike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457200" lvl="0" indent="-457200" algn="l">
                <a:lnSpc>
                  <a:spcPts val="3120"/>
                </a:lnSpc>
                <a:buFont typeface="+mj-lt"/>
                <a:buAutoNum type="arabicPeriod"/>
              </a:pPr>
              <a:r>
                <a:rPr lang="en-US" sz="2400" u="none" strike="noStrik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Sending money required travel: costly, slow, and risky.</a:t>
              </a:r>
            </a:p>
            <a:p>
              <a:pPr marL="457200" lvl="0" indent="-457200" algn="l">
                <a:lnSpc>
                  <a:spcPts val="3120"/>
                </a:lnSpc>
                <a:buFont typeface="+mj-lt"/>
                <a:buAutoNum type="arabicPeriod"/>
              </a:pPr>
              <a:endParaRPr lang="en-US" sz="2400" u="none" strike="noStrike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457200" lvl="0" indent="-457200" algn="l">
                <a:lnSpc>
                  <a:spcPts val="3120"/>
                </a:lnSpc>
                <a:buFont typeface="+mj-lt"/>
                <a:buAutoNum type="arabicPeriod"/>
              </a:pPr>
              <a:r>
                <a:rPr lang="en-US" sz="2400" u="none" strike="noStrike" dirty="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Cash economy limited savings, loans, and business growth.</a:t>
              </a:r>
            </a:p>
            <a:p>
              <a:pPr marL="0" lvl="0" indent="0" algn="l">
                <a:lnSpc>
                  <a:spcPts val="3120"/>
                </a:lnSpc>
              </a:pPr>
              <a:endParaRPr lang="en-US" sz="2400" u="none" strike="noStrike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175044" cy="3116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Financial Exclusion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5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144000" cy="10287000"/>
            <a:chOff x="0" y="0"/>
            <a:chExt cx="1457995" cy="16402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7995" cy="1640244"/>
            </a:xfrm>
            <a:custGeom>
              <a:avLst/>
              <a:gdLst/>
              <a:ahLst/>
              <a:cxnLst/>
              <a:rect l="l" t="t" r="r" b="b"/>
              <a:pathLst>
                <a:path w="1457995" h="1640244">
                  <a:moveTo>
                    <a:pt x="0" y="0"/>
                  </a:moveTo>
                  <a:lnTo>
                    <a:pt x="1457995" y="0"/>
                  </a:lnTo>
                  <a:lnTo>
                    <a:pt x="1457995" y="1640244"/>
                  </a:lnTo>
                  <a:lnTo>
                    <a:pt x="0" y="1640244"/>
                  </a:lnTo>
                  <a:close/>
                </a:path>
              </a:pathLst>
            </a:custGeom>
            <a:blipFill>
              <a:blip r:embed="rId3"/>
              <a:stretch>
                <a:fillRect t="-219" b="-2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2042" y="666750"/>
            <a:ext cx="6886575" cy="6503616"/>
            <a:chOff x="0" y="0"/>
            <a:chExt cx="9182100" cy="8671488"/>
          </a:xfrm>
        </p:grpSpPr>
        <p:sp>
          <p:nvSpPr>
            <p:cNvPr id="5" name="TextBox 5"/>
            <p:cNvSpPr txBox="1"/>
            <p:nvPr/>
          </p:nvSpPr>
          <p:spPr>
            <a:xfrm>
              <a:off x="0" y="3543300"/>
              <a:ext cx="9167398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b="1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Accessible financial services through simple, secure mobile technology for all Kenyans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610278"/>
              <a:ext cx="9182100" cy="2061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• Works on any mobile phone, </a:t>
              </a:r>
              <a:r>
                <a:rPr lang="en-US" sz="2400" b="1" u="none" strike="noStrik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no internet needed</a:t>
              </a:r>
            </a:p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• </a:t>
              </a:r>
              <a:r>
                <a:rPr lang="en-US" sz="2400" b="1" u="none" strike="noStrik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Secure, simple, fast</a:t>
              </a:r>
              <a:r>
                <a:rPr lang="en-US" sz="2400" u="none" strike="noStrik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transactions for users</a:t>
              </a:r>
            </a:p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• Bridges the gap between people and </a:t>
              </a:r>
              <a:r>
                <a:rPr lang="en-US" sz="2400" b="1" u="none" strike="noStrik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financial services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175044" cy="3116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USSD &amp; SMS Technology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8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144000" cy="10287000"/>
            <a:chOff x="0" y="0"/>
            <a:chExt cx="1457995" cy="16402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7995" cy="1640244"/>
            </a:xfrm>
            <a:custGeom>
              <a:avLst/>
              <a:gdLst/>
              <a:ahLst/>
              <a:cxnLst/>
              <a:rect l="l" t="t" r="r" b="b"/>
              <a:pathLst>
                <a:path w="1457995" h="1640244">
                  <a:moveTo>
                    <a:pt x="0" y="0"/>
                  </a:moveTo>
                  <a:lnTo>
                    <a:pt x="1457995" y="0"/>
                  </a:lnTo>
                  <a:lnTo>
                    <a:pt x="1457995" y="1640244"/>
                  </a:lnTo>
                  <a:lnTo>
                    <a:pt x="0" y="1640244"/>
                  </a:lnTo>
                  <a:close/>
                </a:path>
              </a:pathLst>
            </a:custGeom>
            <a:blipFill>
              <a:blip r:embed="rId2"/>
              <a:stretch>
                <a:fillRect t="-219" b="-2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2042" y="666750"/>
            <a:ext cx="6886575" cy="7618041"/>
            <a:chOff x="0" y="0"/>
            <a:chExt cx="9182100" cy="10157388"/>
          </a:xfrm>
        </p:grpSpPr>
        <p:sp>
          <p:nvSpPr>
            <p:cNvPr id="5" name="TextBox 5"/>
            <p:cNvSpPr txBox="1"/>
            <p:nvPr/>
          </p:nvSpPr>
          <p:spPr>
            <a:xfrm>
              <a:off x="0" y="5029200"/>
              <a:ext cx="9167398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b="1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M-Pesa's architecture enables seamless integration without user complexity or confusion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096178"/>
              <a:ext cx="9182100" cy="2061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• Just like an API: standardized inputs, reliable outputs</a:t>
              </a:r>
            </a:p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• Integrates multiple services effortlessly</a:t>
              </a:r>
            </a:p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• Users remain unaware of backend complexities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175044" cy="4602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Simple, Powerful, Scalable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5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144000" cy="10287000"/>
            <a:chOff x="0" y="0"/>
            <a:chExt cx="1457995" cy="16402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7995" cy="1640244"/>
            </a:xfrm>
            <a:custGeom>
              <a:avLst/>
              <a:gdLst/>
              <a:ahLst/>
              <a:cxnLst/>
              <a:rect l="l" t="t" r="r" b="b"/>
              <a:pathLst>
                <a:path w="1457995" h="1640244">
                  <a:moveTo>
                    <a:pt x="0" y="0"/>
                  </a:moveTo>
                  <a:lnTo>
                    <a:pt x="1457995" y="0"/>
                  </a:lnTo>
                  <a:lnTo>
                    <a:pt x="1457995" y="1640244"/>
                  </a:lnTo>
                  <a:lnTo>
                    <a:pt x="0" y="1640244"/>
                  </a:lnTo>
                  <a:close/>
                </a:path>
              </a:pathLst>
            </a:custGeom>
            <a:blipFill>
              <a:blip r:embed="rId2"/>
              <a:stretch>
                <a:fillRect t="-219" b="-2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2042" y="666750"/>
            <a:ext cx="6886575" cy="7618041"/>
            <a:chOff x="0" y="0"/>
            <a:chExt cx="9182100" cy="10157388"/>
          </a:xfrm>
        </p:grpSpPr>
        <p:sp>
          <p:nvSpPr>
            <p:cNvPr id="5" name="TextBox 5"/>
            <p:cNvSpPr txBox="1"/>
            <p:nvPr/>
          </p:nvSpPr>
          <p:spPr>
            <a:xfrm>
              <a:off x="0" y="5029200"/>
              <a:ext cx="9167398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b="1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Transaction processing, physical agents, and a robust financial network in Kenya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096178"/>
              <a:ext cx="9182100" cy="2061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• Backend: transaction processing, security, scalability</a:t>
              </a:r>
            </a:p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• Agents: physical presence for cash-in/cash-out</a:t>
              </a:r>
            </a:p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• Reliable network ensures system robustness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175044" cy="4602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Backend &amp; Agent Network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8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4720604"/>
            <a:chOff x="0" y="0"/>
            <a:chExt cx="9182100" cy="6294138"/>
          </a:xfrm>
        </p:grpSpPr>
        <p:sp>
          <p:nvSpPr>
            <p:cNvPr id="3" name="TextBox 3"/>
            <p:cNvSpPr txBox="1"/>
            <p:nvPr/>
          </p:nvSpPr>
          <p:spPr>
            <a:xfrm>
              <a:off x="0" y="2378057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Ecosystem Connectivity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543318"/>
              <a:ext cx="9182100" cy="27508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75%</a:t>
              </a:r>
              <a:r>
                <a:rPr lang="en-US" sz="24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of Kenyans now have access to financial services through M-Pesa, significantly bridging the gap between users, merchants, banks, and government services, enhancing economic participation.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9182100" cy="15504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</a:pPr>
              <a:r>
                <a:rPr lang="en-US" sz="80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75%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0"/>
            <a:ext cx="9144000" cy="10287000"/>
            <a:chOff x="0" y="0"/>
            <a:chExt cx="812800" cy="914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914400"/>
            </a:xfrm>
            <a:custGeom>
              <a:avLst/>
              <a:gdLst/>
              <a:ahLst/>
              <a:cxnLst/>
              <a:rect l="l" t="t" r="r" b="b"/>
              <a:pathLst>
                <a:path w="812800" h="914400">
                  <a:moveTo>
                    <a:pt x="0" y="0"/>
                  </a:moveTo>
                  <a:lnTo>
                    <a:pt x="812800" y="0"/>
                  </a:lnTo>
                  <a:lnTo>
                    <a:pt x="812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/>
              <a:stretch>
                <a:fillRect t="-219" b="-219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5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144000" cy="10287000"/>
            <a:chOff x="0" y="0"/>
            <a:chExt cx="1457995" cy="16402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7995" cy="1640244"/>
            </a:xfrm>
            <a:custGeom>
              <a:avLst/>
              <a:gdLst/>
              <a:ahLst/>
              <a:cxnLst/>
              <a:rect l="l" t="t" r="r" b="b"/>
              <a:pathLst>
                <a:path w="1457995" h="1640244">
                  <a:moveTo>
                    <a:pt x="0" y="0"/>
                  </a:moveTo>
                  <a:lnTo>
                    <a:pt x="1457995" y="0"/>
                  </a:lnTo>
                  <a:lnTo>
                    <a:pt x="1457995" y="1640244"/>
                  </a:lnTo>
                  <a:lnTo>
                    <a:pt x="0" y="1640244"/>
                  </a:lnTo>
                  <a:close/>
                </a:path>
              </a:pathLst>
            </a:custGeom>
            <a:blipFill>
              <a:blip r:embed="rId2"/>
              <a:stretch>
                <a:fillRect t="-219" b="-21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2042" y="666750"/>
            <a:ext cx="6886575" cy="6894141"/>
            <a:chOff x="0" y="0"/>
            <a:chExt cx="9182100" cy="9192188"/>
          </a:xfrm>
        </p:grpSpPr>
        <p:sp>
          <p:nvSpPr>
            <p:cNvPr id="5" name="TextBox 5"/>
            <p:cNvSpPr txBox="1"/>
            <p:nvPr/>
          </p:nvSpPr>
          <p:spPr>
            <a:xfrm>
              <a:off x="0" y="3543300"/>
              <a:ext cx="9167398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b="1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Key engineering insights driving innovation and impact in financial technology solutions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610278"/>
              <a:ext cx="9182100" cy="2581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• Robustness – transactions must never fail</a:t>
              </a:r>
            </a:p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• Context-awareness – adapt to mobile limitations &amp; rural settings</a:t>
              </a:r>
            </a:p>
            <a:p>
              <a:pPr marL="0" lvl="0" indent="0" algn="l">
                <a:lnSpc>
                  <a:spcPts val="3120"/>
                </a:lnSpc>
              </a:pPr>
              <a:r>
                <a:rPr lang="en-US" sz="2400" u="none" strike="noStrike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• Platform-thinking – enable third-party services &amp; innovation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9175044" cy="3116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Lessons from M-Pesa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8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934200"/>
            <a:ext cx="5448300" cy="829283"/>
            <a:chOff x="0" y="0"/>
            <a:chExt cx="7264400" cy="1105711"/>
          </a:xfrm>
        </p:grpSpPr>
        <p:sp>
          <p:nvSpPr>
            <p:cNvPr id="3" name="TextBox 3"/>
            <p:cNvSpPr txBox="1"/>
            <p:nvPr/>
          </p:nvSpPr>
          <p:spPr>
            <a:xfrm>
              <a:off x="0" y="606601"/>
              <a:ext cx="7264400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123-456-7890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7264400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 b="1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Phone Number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53244" y="5143500"/>
            <a:ext cx="5429731" cy="829283"/>
            <a:chOff x="0" y="0"/>
            <a:chExt cx="7239641" cy="1105711"/>
          </a:xfrm>
        </p:grpSpPr>
        <p:sp>
          <p:nvSpPr>
            <p:cNvPr id="6" name="TextBox 6"/>
            <p:cNvSpPr txBox="1"/>
            <p:nvPr/>
          </p:nvSpPr>
          <p:spPr>
            <a:xfrm>
              <a:off x="0" y="606601"/>
              <a:ext cx="7239641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hello@reallygreatsite.com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7239641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Email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753244" y="8725508"/>
            <a:ext cx="5429731" cy="829283"/>
            <a:chOff x="0" y="0"/>
            <a:chExt cx="7239641" cy="1105711"/>
          </a:xfrm>
        </p:grpSpPr>
        <p:sp>
          <p:nvSpPr>
            <p:cNvPr id="9" name="TextBox 9"/>
            <p:cNvSpPr txBox="1"/>
            <p:nvPr/>
          </p:nvSpPr>
          <p:spPr>
            <a:xfrm>
              <a:off x="0" y="606601"/>
              <a:ext cx="7239641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www.reallygreatsite.com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7239641" cy="49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Website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-12700"/>
            <a:ext cx="9144000" cy="10299700"/>
            <a:chOff x="0" y="0"/>
            <a:chExt cx="786406" cy="8857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86406" cy="885799"/>
            </a:xfrm>
            <a:custGeom>
              <a:avLst/>
              <a:gdLst/>
              <a:ahLst/>
              <a:cxnLst/>
              <a:rect l="l" t="t" r="r" b="b"/>
              <a:pathLst>
                <a:path w="786406" h="885799">
                  <a:moveTo>
                    <a:pt x="0" y="0"/>
                  </a:moveTo>
                  <a:lnTo>
                    <a:pt x="786406" y="0"/>
                  </a:lnTo>
                  <a:lnTo>
                    <a:pt x="786406" y="885799"/>
                  </a:lnTo>
                  <a:lnTo>
                    <a:pt x="0" y="885799"/>
                  </a:lnTo>
                  <a:close/>
                </a:path>
              </a:pathLst>
            </a:custGeom>
            <a:blipFill>
              <a:blip r:embed="rId2"/>
              <a:stretch>
                <a:fillRect t="-157" b="-157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0734675" y="666750"/>
            <a:ext cx="6886575" cy="3411532"/>
            <a:chOff x="0" y="0"/>
            <a:chExt cx="9182100" cy="4548709"/>
          </a:xfrm>
        </p:grpSpPr>
        <p:sp>
          <p:nvSpPr>
            <p:cNvPr id="14" name="TextBox 14"/>
            <p:cNvSpPr txBox="1"/>
            <p:nvPr/>
          </p:nvSpPr>
          <p:spPr>
            <a:xfrm>
              <a:off x="0" y="0"/>
              <a:ext cx="9182100" cy="2974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415"/>
                </a:lnSpc>
              </a:pPr>
              <a:r>
                <a:rPr lang="en-US" sz="765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Transforming Access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3240609"/>
              <a:ext cx="9182100" cy="1308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Simple technology can drive </a:t>
              </a:r>
              <a:r>
                <a:rPr lang="en-US" sz="3000" b="1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massive social change</a:t>
              </a:r>
              <a:r>
                <a:rPr lang="en-US" sz="30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in communities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1785" y="8189492"/>
            <a:ext cx="2861515" cy="1430758"/>
            <a:chOff x="0" y="0"/>
            <a:chExt cx="3815353" cy="1907677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907677" cy="1907677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D68649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9525"/>
                <a:ext cx="812800" cy="8032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907677" y="0"/>
              <a:ext cx="1907677" cy="1907677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68649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308</Words>
  <Application>Microsoft Office PowerPoint</Application>
  <PresentationFormat>Custom</PresentationFormat>
  <Paragraphs>44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Proxima Nova</vt:lpstr>
      <vt:lpstr>Calibri</vt:lpstr>
      <vt:lpstr>Poppins Bold</vt:lpstr>
      <vt:lpstr>Arial</vt:lpstr>
      <vt:lpstr>Proxima Nova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M-Pesa Innovation: Simple Tech, Massive Impact</dc:title>
  <dc:description>Presentation - M-Pesa Innovation: Simple Tech, Massive Impact</dc:description>
  <cp:lastModifiedBy>ALEX KAROSH</cp:lastModifiedBy>
  <cp:revision>2</cp:revision>
  <dcterms:created xsi:type="dcterms:W3CDTF">2006-08-16T00:00:00Z</dcterms:created>
  <dcterms:modified xsi:type="dcterms:W3CDTF">2026-01-28T10:58:11Z</dcterms:modified>
  <dc:identifier>DAG_sUsgNz4</dc:identifier>
</cp:coreProperties>
</file>